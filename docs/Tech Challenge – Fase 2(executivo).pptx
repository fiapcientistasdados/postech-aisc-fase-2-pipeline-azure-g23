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2"/>
  </p:notesMasterIdLst>
  <p:handoutMasterIdLst>
    <p:handoutMasterId r:id="rId23"/>
  </p:handoutMasterIdLst>
  <p:sldIdLst>
    <p:sldId id="256" r:id="rId2"/>
    <p:sldId id="271" r:id="rId3"/>
    <p:sldId id="276" r:id="rId4"/>
    <p:sldId id="279" r:id="rId5"/>
    <p:sldId id="281" r:id="rId6"/>
    <p:sldId id="280" r:id="rId7"/>
    <p:sldId id="283" r:id="rId8"/>
    <p:sldId id="284" r:id="rId9"/>
    <p:sldId id="285" r:id="rId10"/>
    <p:sldId id="286" r:id="rId11"/>
    <p:sldId id="287" r:id="rId12"/>
    <p:sldId id="289" r:id="rId13"/>
    <p:sldId id="290" r:id="rId14"/>
    <p:sldId id="291" r:id="rId15"/>
    <p:sldId id="292" r:id="rId16"/>
    <p:sldId id="293" r:id="rId17"/>
    <p:sldId id="294" r:id="rId18"/>
    <p:sldId id="295" r:id="rId19"/>
    <p:sldId id="296" r:id="rId20"/>
    <p:sldId id="297" r:id="rId21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em-vindos" id="{E75E278A-FF0E-49A4-B170-79828D63BBAD}">
          <p14:sldIdLst>
            <p14:sldId id="256"/>
          </p14:sldIdLst>
        </p14:section>
        <p14:section name="Design, Transformar, Anotação, Trabalhe em Conjunto, Diga-me" id="{B9B51309-D148-4332-87C2-07BE32FBCA3B}">
          <p14:sldIdLst>
            <p14:sldId id="271"/>
            <p14:sldId id="276"/>
            <p14:sldId id="279"/>
            <p14:sldId id="281"/>
            <p14:sldId id="280"/>
            <p14:sldId id="283"/>
          </p14:sldIdLst>
        </p14:section>
        <p14:section name="Saiba Mais" id="{2CC34DB2-6590-42C0-AD4B-A04C6060184E}">
          <p14:sldIdLst/>
        </p14:section>
        <p14:section name="Bem-vindos" id="{E430C87C-B4C4-4FFC-8A07-15B5E81BAB9A}">
          <p14:sldIdLst>
            <p14:sldId id="284"/>
          </p14:sldIdLst>
        </p14:section>
        <p14:section name="Design, Transformar, Anotação, Trabalhe em Conjunto, Diga-me" id="{9A134EB6-BD62-4742-AA5D-FF6EDDF9D8F0}">
          <p14:sldIdLst>
            <p14:sldId id="285"/>
            <p14:sldId id="286"/>
            <p14:sldId id="287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</p14:sldIdLst>
        </p14:section>
        <p14:section name="Saiba Mais" id="{04AE60EC-7C52-4E23-8149-01B4DB74F53D}">
          <p14:sldIdLst>
            <p14:sldId id="29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5" name="Autor" initials="A" lastIdx="0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CAB6"/>
    <a:srgbClr val="D24726"/>
    <a:srgbClr val="404040"/>
    <a:srgbClr val="FF9B45"/>
    <a:srgbClr val="DD462F"/>
    <a:srgbClr val="F8CFB6"/>
    <a:srgbClr val="923922"/>
    <a:srgbClr val="F5F5F5"/>
    <a:srgbClr val="F2F2F2"/>
    <a:srgbClr val="D2B4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241" autoAdjust="0"/>
  </p:normalViewPr>
  <p:slideViewPr>
    <p:cSldViewPr snapToGrid="0">
      <p:cViewPr varScale="1">
        <p:scale>
          <a:sx n="99" d="100"/>
          <a:sy n="99" d="100"/>
        </p:scale>
        <p:origin x="504" y="6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3" d="100"/>
          <a:sy n="93" d="100"/>
        </p:scale>
        <p:origin x="295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12E8EFE0-5F29-4A8F-882F-2C5E3702D946}" type="datetime1">
              <a:rPr lang="pt-BR" smtClean="0"/>
              <a:t>31/08/2026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C915AE-A572-46FB-8F05-B028884B90C4}" type="datetime1">
              <a:rPr lang="pt-BR" smtClean="0"/>
              <a:pPr/>
              <a:t>31/08/2026</a:t>
            </a:fld>
            <a:endParaRPr lang="pt-BR" dirty="0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BR" noProof="0"/>
          </a:p>
        </p:txBody>
      </p:sp>
      <p:sp>
        <p:nvSpPr>
          <p:cNvPr id="5" name="Espaço Reservado para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F61EA0F-A667-4B49-8422-0062BC55E249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270436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74263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1064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69858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53693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71E70-87DF-CBC0-A519-649C6E2DF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5E90C40-4E3D-D746-E6F5-70A538E440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A752EF1-4F9A-94AB-2F02-92B3EDF32C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8B80A68-3337-8177-4113-B1972AFF4D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508177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270436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74263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B7C03-40BA-1F62-2FAD-4275AB531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DA322FE-DA8C-6EC5-8FD9-E5C38B9EE2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1C3CAA1-10D9-70E2-06E1-C2E3307195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D1F617C-DF83-00CA-4340-EA2CB7F871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80922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53693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71E70-87DF-CBC0-A519-649C6E2DF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5E90C40-4E3D-D746-E6F5-70A538E440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A752EF1-4F9A-94AB-2F02-92B3EDF32C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8B80A68-3337-8177-4113-B1972AFF4D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508177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6221E-F740-0AE2-305C-BCA9018F2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A5BBB03-3EAB-A1AC-9348-B832AD4548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FD03E59-8129-8C6A-7753-F20516DAAC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108F519-55F4-DAE4-918D-532F4BA28E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27612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90B96-5720-8BC0-E5F9-A26BE56FB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BA35C20-1553-1310-80E3-3FCD103BC7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876B4FC-B23D-FD6B-CBD5-8074D7FB6F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22583CF-E810-3797-A8A1-7D19E70BF8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66945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6E2D5-DD6A-2982-E575-8AEDF8407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374759E-7474-C866-EF5A-07932AB767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673AFCC-3AD7-E0E4-E09A-8AE0A64F49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2FBE8F8-4385-522A-169E-B4F80866C1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63862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D1C31-11F1-42B4-6EAA-A19156A62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1E41831-79C8-CF22-43EB-546A26B829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72B1112-70DA-FB76-7150-7B04831141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5E59AF9-960F-8698-7631-F37BBAA178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693184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6CEA4-D17C-6046-A4AC-6FC928C41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08EAF72-6A0A-2866-4B8A-F7F046378F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7E35B24-497B-97B6-EA2E-F0335CD125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AAE1EE4-0880-F770-3813-CEE3443486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9898341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1BCEA-2B50-D4A9-1812-8EF20FDB1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B76121C-96E7-CF53-D260-FEF1393BC6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E417BEB-7DCB-FF6A-A98E-8F4F409819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8F76DA2-A36F-0C52-6285-53CBF521E9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40022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17808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sz="1800" noProof="0"/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pt-BR" sz="1800" noProof="0"/>
          </a:p>
        </p:txBody>
      </p:sp>
      <p:cxnSp>
        <p:nvCxnSpPr>
          <p:cNvPr id="12" name="Conector Reto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ítulo 3"/>
          <p:cNvSpPr>
            <a:spLocks noGrp="1"/>
          </p:cNvSpPr>
          <p:nvPr>
            <p:ph type="title" hasCustomPrompt="1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pt-BR" noProof="0" dirty="0"/>
              <a:t>Clique para editar o texto Mestre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pt-BR" noProof="0" dirty="0"/>
              <a:t>Segundo nível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pt-BR" noProof="0" dirty="0"/>
              <a:t>Terceiro nível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pt-BR" noProof="0" dirty="0"/>
              <a:t>Quarto nível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pt-BR" noProof="0" dirty="0"/>
              <a:t>Quinto nível</a:t>
            </a:r>
          </a:p>
        </p:txBody>
      </p:sp>
      <p:sp>
        <p:nvSpPr>
          <p:cNvPr id="6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DFFABA16-A60E-4C58-9DC9-284576B05B35}" type="datetime1">
              <a:rPr lang="pt-BR" noProof="0" smtClean="0"/>
              <a:t>31/08/2026</a:t>
            </a:fld>
            <a:endParaRPr lang="pt-BR" noProof="0"/>
          </a:p>
        </p:txBody>
      </p:sp>
      <p:sp>
        <p:nvSpPr>
          <p:cNvPr id="7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endParaRPr lang="pt-BR" noProof="0"/>
          </a:p>
        </p:txBody>
      </p:sp>
      <p:sp>
        <p:nvSpPr>
          <p:cNvPr id="8" name="Espaço Reservado para o Número do Slide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sz="1800" noProof="0"/>
          </a:p>
        </p:txBody>
      </p:sp>
      <p:sp>
        <p:nvSpPr>
          <p:cNvPr id="10" name="Retângulo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sz="1800" noProof="0"/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7" name="Espaço Reservado para Conteúdo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pt-BR" noProof="0"/>
              <a:t>Clique para editar o texto Mestre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pt-BR" noProof="0"/>
              <a:t>Segundo nível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pt-BR" noProof="0"/>
              <a:t>Terceiro nível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pt-BR" noProof="0"/>
              <a:t>Quarto nível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pt-BR" noProof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pt-BR" sz="1800" noProof="0"/>
          </a:p>
        </p:txBody>
      </p: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495CCA5C-24EB-4738-B463-0ADFEF5D3564}" type="datetime1">
              <a:rPr lang="pt-BR" noProof="0" smtClean="0"/>
              <a:t>31/08/2026</a:t>
            </a:fld>
            <a:endParaRPr lang="pt-BR" noProof="0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t-BR" noProof="0" smtClean="0"/>
              <a:pPr rtl="0"/>
              <a:t>‹nº›</a:t>
            </a:fld>
            <a:endParaRPr lang="pt-BR" noProof="0"/>
          </a:p>
        </p:txBody>
      </p:sp>
      <p:cxnSp>
        <p:nvCxnSpPr>
          <p:cNvPr id="8" name="Conector Reto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FIAPCientistasDados/postech-aisc-fase-2-pipeline-azure-g23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 anchorCtr="0">
            <a:noAutofit/>
          </a:bodyPr>
          <a:lstStyle/>
          <a:p>
            <a:r>
              <a:rPr lang="pt-BR" dirty="0">
                <a:latin typeface="Segoe UI Light" panose="020B0502040204020203" pitchFamily="34" charset="0"/>
                <a:cs typeface="Segoe UI Light" panose="020B0502040204020203" pitchFamily="34" charset="0"/>
              </a:rPr>
              <a:t>Tech </a:t>
            </a:r>
            <a:r>
              <a:rPr lang="pt-BR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Challenge</a:t>
            </a:r>
            <a:r>
              <a:rPr lang="pt-BR" dirty="0">
                <a:latin typeface="Segoe UI Light" panose="020B0502040204020203" pitchFamily="34" charset="0"/>
                <a:cs typeface="Segoe UI Light" panose="020B0502040204020203" pitchFamily="34" charset="0"/>
              </a:rPr>
              <a:t> – Fase 2</a:t>
            </a:r>
          </a:p>
        </p:txBody>
      </p:sp>
      <p:sp>
        <p:nvSpPr>
          <p:cNvPr id="3" name="Subtítulo 2"/>
          <p:cNvSpPr>
            <a:spLocks noGrp="1"/>
          </p:cNvSpPr>
          <p:nvPr>
            <p:ph sz="quarter" idx="10"/>
          </p:nvPr>
        </p:nvSpPr>
        <p:spPr>
          <a:xfrm>
            <a:off x="508958" y="1664208"/>
            <a:ext cx="11174084" cy="822960"/>
          </a:xfrm>
        </p:spPr>
        <p:txBody>
          <a:bodyPr rtlCol="0">
            <a:normAutofit fontScale="55000" lnSpcReduction="20000"/>
          </a:bodyPr>
          <a:lstStyle/>
          <a:p>
            <a:r>
              <a:rPr lang="pt-BR" sz="4400" b="1" dirty="0">
                <a:latin typeface="Verdana" panose="020B0604030504040204" pitchFamily="34" charset="0"/>
                <a:ea typeface="Verdana" panose="020B0604030504040204" pitchFamily="34" charset="0"/>
              </a:rPr>
              <a:t>Pipeline Híbrido para Análise da Alfabetização no Brasil</a:t>
            </a:r>
            <a:r>
              <a:rPr lang="pt-BR" sz="44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dicas </a:t>
            </a:r>
            <a:r>
              <a:rPr lang="pt-BR" sz="2400" dirty="0">
                <a:solidFill>
                  <a:schemeClr val="bg1"/>
                </a:solidFill>
                <a:latin typeface="+mj-lt"/>
              </a:rPr>
              <a:t>para simplificar o trabalho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4A47CD92-18D1-1F38-98F9-E07B0F10760A}"/>
              </a:ext>
            </a:extLst>
          </p:cNvPr>
          <p:cNvSpPr txBox="1">
            <a:spLocks/>
          </p:cNvSpPr>
          <p:nvPr/>
        </p:nvSpPr>
        <p:spPr>
          <a:xfrm>
            <a:off x="418290" y="3017520"/>
            <a:ext cx="11174084" cy="2260536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6002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0574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b="1" dirty="0">
                <a:latin typeface="Verdana" panose="020B0604030504040204" pitchFamily="34" charset="0"/>
                <a:ea typeface="Verdana" panose="020B0604030504040204" pitchFamily="34" charset="0"/>
              </a:rPr>
              <a:t>Integrantes do grupo 23 – </a:t>
            </a:r>
            <a:r>
              <a:rPr lang="pt-BR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POSTECH FIAP </a:t>
            </a:r>
            <a:r>
              <a:rPr lang="pt-BR" sz="20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2IAST</a:t>
            </a:r>
            <a:endParaRPr lang="pt-BR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pt-BR" sz="2000" dirty="0">
                <a:solidFill>
                  <a:schemeClr val="accent5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RM374990 – Célia Maria </a:t>
            </a:r>
            <a:r>
              <a:rPr lang="pt-BR" sz="2000" dirty="0" err="1">
                <a:solidFill>
                  <a:schemeClr val="accent5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Tomitsuka</a:t>
            </a:r>
            <a:endParaRPr lang="pt-BR" sz="2000" dirty="0">
              <a:solidFill>
                <a:schemeClr val="accent5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pt-BR" sz="2000" dirty="0">
                <a:solidFill>
                  <a:schemeClr val="accent5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RM374983 - Nelson da Silva Paz</a:t>
            </a:r>
          </a:p>
          <a:p>
            <a:r>
              <a:rPr lang="pt-BR" sz="2000" dirty="0">
                <a:solidFill>
                  <a:schemeClr val="accent5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RM374494 - Nelson T Yamamoto</a:t>
            </a: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title"/>
          </p:nvPr>
        </p:nvSpPr>
        <p:spPr>
          <a:xfrm>
            <a:off x="521207" y="448056"/>
            <a:ext cx="9347723" cy="640080"/>
          </a:xfrm>
        </p:spPr>
        <p:txBody>
          <a:bodyPr rtlCol="0">
            <a:noAutofit/>
          </a:bodyPr>
          <a:lstStyle/>
          <a:p>
            <a:r>
              <a:rPr lang="pt-BR" dirty="0">
                <a:latin typeface="Segoe UI Light" panose="020B0502040204020203" pitchFamily="34" charset="0"/>
                <a:cs typeface="Segoe UI Light" panose="020B0502040204020203" pitchFamily="34" charset="0"/>
              </a:rPr>
              <a:t>Contexto e Problema de Negócio </a:t>
            </a:r>
          </a:p>
        </p:txBody>
      </p:sp>
      <p:sp>
        <p:nvSpPr>
          <p:cNvPr id="38" name="Espaço Reservado para Conteúdo 17"/>
          <p:cNvSpPr txBox="1">
            <a:spLocks/>
          </p:cNvSpPr>
          <p:nvPr/>
        </p:nvSpPr>
        <p:spPr>
          <a:xfrm>
            <a:off x="729744" y="1485900"/>
            <a:ext cx="4551251" cy="20842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ts val="600"/>
              </a:spcAft>
              <a:buNone/>
              <a:defRPr/>
            </a:pPr>
            <a:r>
              <a:rPr lang="pt-BR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 Brasil estabeleceu a meta de alfabetizar todas as crianças até o final do 2º ano do ensino fundamental até 2030. Para apoiar esse acompanhamento, construímos uma plataforma de dados capaz de integrar diferentes fontes educacionais e dados estatísticos, permitindo análises confiáveis e escaláveis sobre o indicador Criança Alfabetizada.</a:t>
            </a:r>
          </a:p>
          <a:p>
            <a:pPr marL="0" lvl="0" indent="0">
              <a:spcBef>
                <a:spcPct val="0"/>
              </a:spcBef>
              <a:spcAft>
                <a:spcPts val="600"/>
              </a:spcAft>
              <a:buNone/>
              <a:defRPr/>
            </a:pPr>
            <a:endParaRPr lang="pt-BR" sz="1600" dirty="0">
              <a:solidFill>
                <a:schemeClr val="bg2">
                  <a:lumMod val="25000"/>
                </a:schemeClr>
              </a:solidFill>
              <a:ea typeface="Verdana" panose="020B060403050404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1028" name="Picture 4" descr="IBGE e a importância dele para a formulação de políticas públicas">
            <a:extLst>
              <a:ext uri="{FF2B5EF4-FFF2-40B4-BE49-F238E27FC236}">
                <a16:creationId xmlns:a16="http://schemas.microsoft.com/office/drawing/2014/main" id="{0DA188A6-248B-CDB2-5BE8-EC3924ECE5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2086" y="4269067"/>
            <a:ext cx="2133710" cy="1127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27D4F786-D809-1E6B-FD8A-40FF72A066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3470" y="2465677"/>
            <a:ext cx="2172326" cy="963323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DBC9F0B8-CB51-A46A-F783-EDB6AE3813A3}"/>
              </a:ext>
            </a:extLst>
          </p:cNvPr>
          <p:cNvSpPr txBox="1"/>
          <p:nvPr/>
        </p:nvSpPr>
        <p:spPr>
          <a:xfrm>
            <a:off x="8557010" y="2011374"/>
            <a:ext cx="2905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Avaliação da Alfabetização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9F71320A-4DEA-4964-AE8A-3B1DA57E833C}"/>
              </a:ext>
            </a:extLst>
          </p:cNvPr>
          <p:cNvSpPr txBox="1"/>
          <p:nvPr/>
        </p:nvSpPr>
        <p:spPr>
          <a:xfrm>
            <a:off x="729744" y="5205390"/>
            <a:ext cx="6239101" cy="646331"/>
          </a:xfrm>
          <a:prstGeom prst="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Até 2030, todas as crianças brasileiras estejam alfabetizadas </a:t>
            </a:r>
          </a:p>
          <a:p>
            <a:r>
              <a:rPr lang="pt-BR" dirty="0">
                <a:solidFill>
                  <a:schemeClr val="bg1"/>
                </a:solidFill>
              </a:rPr>
              <a:t>ao final do 2º ano do ensino fundamental</a:t>
            </a:r>
            <a:endParaRPr lang="pt-BR" dirty="0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2EAF1E0E-170A-35E4-6AE7-A379E3ABC748}"/>
              </a:ext>
            </a:extLst>
          </p:cNvPr>
          <p:cNvSpPr txBox="1"/>
          <p:nvPr/>
        </p:nvSpPr>
        <p:spPr>
          <a:xfrm>
            <a:off x="729744" y="4269067"/>
            <a:ext cx="6239101" cy="6463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743 pontos na proficiência do Saeb, nível a partir do qual uma criança pode ser considerada alfabetizada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57616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title"/>
          </p:nvPr>
        </p:nvSpPr>
        <p:spPr>
          <a:xfrm>
            <a:off x="521207" y="448056"/>
            <a:ext cx="10310399" cy="640080"/>
          </a:xfrm>
        </p:spPr>
        <p:txBody>
          <a:bodyPr rtlCol="0">
            <a:normAutofit fontScale="90000"/>
          </a:bodyPr>
          <a:lstStyle/>
          <a:p>
            <a:r>
              <a:rPr lang="pt-BR" dirty="0">
                <a:latin typeface="Segoe UI Light" panose="020B0502040204020203" pitchFamily="34" charset="0"/>
                <a:cs typeface="Segoe UI Light" panose="020B0502040204020203" pitchFamily="34" charset="0"/>
              </a:rPr>
              <a:t>Problema de Negócio: Informações dispersas em múltiplas fontes de dados, sem uma visão integrada para análise e tomada de decisão</a:t>
            </a:r>
          </a:p>
        </p:txBody>
      </p:sp>
      <p:sp>
        <p:nvSpPr>
          <p:cNvPr id="42" name="Espaço Reservado para Conteúdo 17"/>
          <p:cNvSpPr txBox="1">
            <a:spLocks/>
          </p:cNvSpPr>
          <p:nvPr/>
        </p:nvSpPr>
        <p:spPr>
          <a:xfrm>
            <a:off x="521207" y="1694329"/>
            <a:ext cx="11070157" cy="48776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lnSpc>
                <a:spcPts val="2000"/>
              </a:lnSpc>
              <a:spcAft>
                <a:spcPts val="2000"/>
              </a:spcAft>
              <a:buNone/>
            </a:pPr>
            <a:endParaRPr lang="pt-BR" sz="1800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F99543D-3CF5-F2C4-F59B-DE2364C22B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6898" y="1310426"/>
            <a:ext cx="7878773" cy="521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326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10754152" cy="640080"/>
          </a:xfrm>
        </p:spPr>
        <p:txBody>
          <a:bodyPr rtlCol="0">
            <a:normAutofit fontScale="90000"/>
          </a:bodyPr>
          <a:lstStyle/>
          <a:p>
            <a:r>
              <a:rPr lang="pt-BR" dirty="0">
                <a:latin typeface="Segoe UI Light" panose="020B0502040204020203" pitchFamily="34" charset="0"/>
                <a:cs typeface="Segoe UI Light" panose="020B0502040204020203" pitchFamily="34" charset="0"/>
              </a:rPr>
              <a:t>Objetivo: Consolidar múltiplas fontes de dados em uma visão analítica unificada</a:t>
            </a:r>
          </a:p>
        </p:txBody>
      </p:sp>
      <p:sp>
        <p:nvSpPr>
          <p:cNvPr id="25" name="Espaço Reservado para Conteúdo 17"/>
          <p:cNvSpPr txBox="1">
            <a:spLocks/>
          </p:cNvSpPr>
          <p:nvPr/>
        </p:nvSpPr>
        <p:spPr>
          <a:xfrm>
            <a:off x="2702859" y="2958353"/>
            <a:ext cx="9184341" cy="36441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spcAft>
                <a:spcPts val="2000"/>
              </a:spcAft>
              <a:buNone/>
            </a:pPr>
            <a:r>
              <a:rPr lang="pt-BR" dirty="0">
                <a:latin typeface="Segoe UI" panose="020B0502040204020203" pitchFamily="34" charset="0"/>
                <a:cs typeface="Segoe UI" panose="020B0502040204020203" pitchFamily="34" charset="0"/>
              </a:rPr>
              <a:t>Coo isso funciona: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88A305A-C5BE-FE05-12B4-01EC5C542B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394" y="1322202"/>
            <a:ext cx="10186148" cy="4726303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D8DC5791-AF9C-9097-0B06-5E04D116E13F}"/>
              </a:ext>
            </a:extLst>
          </p:cNvPr>
          <p:cNvSpPr txBox="1"/>
          <p:nvPr/>
        </p:nvSpPr>
        <p:spPr>
          <a:xfrm>
            <a:off x="521207" y="6086778"/>
            <a:ext cx="105492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[Visualização Power BI] A integração dos dados permitiu, por exemplo, gerar indicadores consolidados e comparar o </a:t>
            </a:r>
          </a:p>
          <a:p>
            <a:r>
              <a:rPr lang="pt-BR" sz="1400" dirty="0"/>
              <a:t>desempenho da alfabetização entre os Estados brasileiros.</a:t>
            </a:r>
          </a:p>
        </p:txBody>
      </p:sp>
    </p:spTree>
    <p:extLst>
      <p:ext uri="{BB962C8B-B14F-4D97-AF65-F5344CB8AC3E}">
        <p14:creationId xmlns:p14="http://schemas.microsoft.com/office/powerpoint/2010/main" val="1107001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>
                <a:latin typeface="Segoe UI Light" panose="020B0502040204020203" pitchFamily="34" charset="0"/>
                <a:cs typeface="Segoe UI Light" panose="020B0502040204020203" pitchFamily="34" charset="0"/>
              </a:rPr>
              <a:t>Arquitetura do projeto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70AACAC5-D45B-E315-0355-4101B1FABD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2561" y="1646672"/>
            <a:ext cx="6536708" cy="4552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EDC262E0-905D-A2A7-85B0-D63B6964F51D}"/>
              </a:ext>
            </a:extLst>
          </p:cNvPr>
          <p:cNvSpPr txBox="1"/>
          <p:nvPr/>
        </p:nvSpPr>
        <p:spPr>
          <a:xfrm>
            <a:off x="521207" y="1661160"/>
            <a:ext cx="4523233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O projeto segue a arquitetura medalhão, com as camadas Bronze, Silver e Gold. Na camada Silver, temos os dados tratados e padronizados por município — três tabelas principais: o indicador de alfabetização, as metas por município e a dimensão dos municípios do IBGE. A partir delas, construímos a camada Gold, o coração do projeto, que gera três tabelas: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/>
              <a:t>fato detalhado, com resultado e meta de cada município por ano;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/>
              <a:t>visão por estado, comparando as unidades federativas;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/>
              <a:t>visão nacional, com o panorama do Brasil.</a:t>
            </a:r>
          </a:p>
        </p:txBody>
      </p:sp>
    </p:spTree>
    <p:extLst>
      <p:ext uri="{BB962C8B-B14F-4D97-AF65-F5344CB8AC3E}">
        <p14:creationId xmlns:p14="http://schemas.microsoft.com/office/powerpoint/2010/main" val="958036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pt-BR" dirty="0" err="1"/>
              <a:t>FinOps</a:t>
            </a:r>
            <a:r>
              <a:rPr lang="pt-BR" dirty="0"/>
              <a:t> - Operação e Custo</a:t>
            </a:r>
            <a:endParaRPr lang="pt-BR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0" name="Espaço Reservado para Conteúdo 17"/>
          <p:cNvSpPr txBox="1">
            <a:spLocks/>
          </p:cNvSpPr>
          <p:nvPr/>
        </p:nvSpPr>
        <p:spPr>
          <a:xfrm>
            <a:off x="541609" y="1455491"/>
            <a:ext cx="4815599" cy="48926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600"/>
              </a:spcAft>
              <a:buNone/>
            </a:pPr>
            <a:endParaRPr lang="pt-BR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0" name="Conector Reto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11458492" y="1556251"/>
            <a:ext cx="0" cy="4892634"/>
          </a:xfrm>
          <a:prstGeom prst="line">
            <a:avLst/>
          </a:prstGeom>
          <a:ln w="952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8D8E1837-82F8-9C7A-978B-0502C503C19A}"/>
              </a:ext>
            </a:extLst>
          </p:cNvPr>
          <p:cNvSpPr txBox="1"/>
          <p:nvPr/>
        </p:nvSpPr>
        <p:spPr>
          <a:xfrm>
            <a:off x="655320" y="1684020"/>
            <a:ext cx="957072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/>
              <a:t>Controle de Custos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/>
              <a:t>Azure Budgets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 err="1"/>
              <a:t>Databricks</a:t>
            </a:r>
            <a:r>
              <a:rPr lang="pt-BR" sz="1400" dirty="0"/>
              <a:t> </a:t>
            </a:r>
            <a:r>
              <a:rPr lang="pt-BR" sz="1400" dirty="0" err="1"/>
              <a:t>Serverless</a:t>
            </a:r>
            <a:r>
              <a:rPr lang="pt-BR" sz="1400" dirty="0"/>
              <a:t> SQL Warehouse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/>
              <a:t>Otimização de Armazenamento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/>
              <a:t>ADLS Gen2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/>
              <a:t>Delta Lake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/>
              <a:t>Particionamento de tabelas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/>
              <a:t>Monitoramento de consumo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/>
              <a:t>Parquet particionado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400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55DD412E-B99A-7BCA-1CF2-8C6AAAF9C0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588" y="3656776"/>
            <a:ext cx="8579476" cy="275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8336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560C5-698D-8F65-9B22-33721129D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D60DC300-5DC8-3175-4422-5894B1A6D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pt-BR" dirty="0"/>
              <a:t>Monitoramento da Pipeline</a:t>
            </a:r>
            <a:endParaRPr lang="pt-BR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0" name="Espaço Reservado para Conteúdo 17">
            <a:extLst>
              <a:ext uri="{FF2B5EF4-FFF2-40B4-BE49-F238E27FC236}">
                <a16:creationId xmlns:a16="http://schemas.microsoft.com/office/drawing/2014/main" id="{F3358014-86E4-2B62-132E-7EA839FBADFE}"/>
              </a:ext>
            </a:extLst>
          </p:cNvPr>
          <p:cNvSpPr txBox="1">
            <a:spLocks/>
          </p:cNvSpPr>
          <p:nvPr/>
        </p:nvSpPr>
        <p:spPr>
          <a:xfrm>
            <a:off x="541609" y="1455491"/>
            <a:ext cx="4815599" cy="48926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600"/>
              </a:spcAft>
              <a:buNone/>
            </a:pPr>
            <a:endParaRPr lang="pt-BR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BA39C1CE-F198-C9D7-1E0F-04935E4F8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11458492" y="1556251"/>
            <a:ext cx="0" cy="4892634"/>
          </a:xfrm>
          <a:prstGeom prst="line">
            <a:avLst/>
          </a:prstGeom>
          <a:ln w="952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2D981602-324D-2B99-1CE2-56C8E1B0F0AE}"/>
              </a:ext>
            </a:extLst>
          </p:cNvPr>
          <p:cNvSpPr txBox="1"/>
          <p:nvPr/>
        </p:nvSpPr>
        <p:spPr>
          <a:xfrm>
            <a:off x="655320" y="1684020"/>
            <a:ext cx="9570720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Foram implementados mecanismos de monitoramento para garantir rastreabilidade, qualidade dos dados e acompanhamento operacional ao longo de todo o fluxo de processamento:</a:t>
            </a:r>
          </a:p>
          <a:p>
            <a:endParaRPr lang="pt-BR" sz="1400" dirty="0"/>
          </a:p>
          <a:p>
            <a:r>
              <a:rPr lang="pt-BR" sz="1400" dirty="0"/>
              <a:t>Registro estruturado de logs em todas as camadas da arquitetura (Bronze, Silver e Gold), incluindo data.</a:t>
            </a:r>
          </a:p>
          <a:p>
            <a:r>
              <a:rPr lang="pt-BR" sz="1400" dirty="0"/>
              <a:t>Consolidação automática dos resultados de processamento por tabela, identificando registros processados, execuções bem-sucedidas, falhas e tabelas ignoradas quando opcionais.</a:t>
            </a:r>
          </a:p>
          <a:p>
            <a:r>
              <a:rPr lang="pt-BR" sz="1400" dirty="0"/>
              <a:t>Coleta contínua de indicadores de qualidade dos dados durante ingestões e transformações, contemplando métricas como valores nulos, duplicidades e volume de registros.</a:t>
            </a:r>
          </a:p>
          <a:p>
            <a:r>
              <a:rPr lang="pt-BR" sz="1400" dirty="0"/>
              <a:t>Monitoramento do tempo de execução das rotinas, permitindo identificar gargalos e avaliar o desempenho dos processos.</a:t>
            </a:r>
          </a:p>
          <a:p>
            <a:r>
              <a:rPr lang="pt-BR" sz="1400" dirty="0"/>
              <a:t>Acompanhamento das cargas de streaming por meio de métricas operacionais armazenadas na camada Gold, incluindo:</a:t>
            </a:r>
          </a:p>
          <a:p>
            <a:r>
              <a:rPr lang="pt-BR" sz="1400" dirty="0"/>
              <a:t>Quantidade total de eventos processados;</a:t>
            </a:r>
          </a:p>
          <a:p>
            <a:r>
              <a:rPr lang="pt-BR" sz="1400" dirty="0"/>
              <a:t>Cobertura geográfica dos dados recebidos;</a:t>
            </a:r>
          </a:p>
          <a:p>
            <a:r>
              <a:rPr lang="pt-BR" sz="1400" dirty="0"/>
              <a:t>Intervalo temporal dos eventos processados;</a:t>
            </a:r>
          </a:p>
          <a:p>
            <a:r>
              <a:rPr lang="pt-BR" sz="1400" dirty="0"/>
              <a:t>Taxa de processamento por tópico (eventos por segundo).</a:t>
            </a:r>
          </a:p>
          <a:p>
            <a:endParaRPr lang="pt-BR" sz="1400" dirty="0"/>
          </a:p>
          <a:p>
            <a:r>
              <a:rPr lang="pt-BR" sz="1400" dirty="0"/>
              <a:t>Essas informações são persistidas para análise histórica e suporte à </a:t>
            </a:r>
            <a:r>
              <a:rPr lang="pt-BR" sz="1400" dirty="0" err="1"/>
              <a:t>observabilidade</a:t>
            </a:r>
            <a:r>
              <a:rPr lang="pt-BR" sz="1400" dirty="0"/>
              <a:t> da plataforma, permitindo monitoramento contínuo da saúde e performance da pipeline.</a:t>
            </a:r>
          </a:p>
        </p:txBody>
      </p:sp>
    </p:spTree>
    <p:extLst>
      <p:ext uri="{BB962C8B-B14F-4D97-AF65-F5344CB8AC3E}">
        <p14:creationId xmlns:p14="http://schemas.microsoft.com/office/powerpoint/2010/main" val="23318516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 anchorCtr="0">
            <a:noAutofit/>
          </a:bodyPr>
          <a:lstStyle/>
          <a:p>
            <a:r>
              <a:rPr lang="pt-BR" sz="2400" dirty="0">
                <a:latin typeface="Segoe UI Light" panose="020B0502040204020203" pitchFamily="34" charset="0"/>
                <a:cs typeface="Segoe UI Light" panose="020B0502040204020203" pitchFamily="34" charset="0"/>
              </a:rPr>
              <a:t>Tech </a:t>
            </a:r>
            <a:r>
              <a:rPr lang="pt-BR" sz="24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Challenge</a:t>
            </a:r>
            <a:r>
              <a:rPr lang="pt-BR" sz="2400" dirty="0">
                <a:latin typeface="Segoe UI Light" panose="020B0502040204020203" pitchFamily="34" charset="0"/>
                <a:cs typeface="Segoe UI Light" panose="020B0502040204020203" pitchFamily="34" charset="0"/>
              </a:rPr>
              <a:t> – Fase 2 – Resumo técnico</a:t>
            </a:r>
          </a:p>
        </p:txBody>
      </p:sp>
      <p:sp>
        <p:nvSpPr>
          <p:cNvPr id="3" name="Subtítulo 2"/>
          <p:cNvSpPr>
            <a:spLocks noGrp="1"/>
          </p:cNvSpPr>
          <p:nvPr>
            <p:ph sz="quarter" idx="10"/>
          </p:nvPr>
        </p:nvSpPr>
        <p:spPr>
          <a:xfrm>
            <a:off x="508958" y="1664208"/>
            <a:ext cx="11174084" cy="822960"/>
          </a:xfrm>
        </p:spPr>
        <p:txBody>
          <a:bodyPr rtlCol="0">
            <a:normAutofit fontScale="55000" lnSpcReduction="20000"/>
          </a:bodyPr>
          <a:lstStyle/>
          <a:p>
            <a:r>
              <a:rPr lang="pt-BR" sz="4400" b="1" dirty="0">
                <a:latin typeface="Verdana" panose="020B0604030504040204" pitchFamily="34" charset="0"/>
                <a:ea typeface="Verdana" panose="020B0604030504040204" pitchFamily="34" charset="0"/>
              </a:rPr>
              <a:t>Pipeline Híbrido para Análise da Alfabetização no Brasil</a:t>
            </a:r>
            <a:r>
              <a:rPr lang="pt-BR" sz="44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dicas </a:t>
            </a:r>
            <a:r>
              <a:rPr lang="pt-BR" sz="2400" dirty="0">
                <a:solidFill>
                  <a:schemeClr val="bg1"/>
                </a:solidFill>
                <a:latin typeface="+mj-lt"/>
              </a:rPr>
              <a:t>para simplificar o trabalho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4A47CD92-18D1-1F38-98F9-E07B0F10760A}"/>
              </a:ext>
            </a:extLst>
          </p:cNvPr>
          <p:cNvSpPr txBox="1">
            <a:spLocks/>
          </p:cNvSpPr>
          <p:nvPr/>
        </p:nvSpPr>
        <p:spPr>
          <a:xfrm>
            <a:off x="418290" y="3017520"/>
            <a:ext cx="11174084" cy="2260536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6002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0574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b="1" dirty="0">
                <a:latin typeface="Verdana" panose="020B0604030504040204" pitchFamily="34" charset="0"/>
                <a:ea typeface="Verdana" panose="020B0604030504040204" pitchFamily="34" charset="0"/>
              </a:rPr>
              <a:t>Integrantes do grupo 23 – </a:t>
            </a:r>
            <a:r>
              <a:rPr lang="pt-BR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POSTECH FIAP </a:t>
            </a:r>
            <a:r>
              <a:rPr lang="pt-BR" sz="20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2IAST</a:t>
            </a:r>
            <a:endParaRPr lang="pt-BR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pt-BR" sz="2000" dirty="0">
                <a:solidFill>
                  <a:schemeClr val="accent5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RM374990 – Célia Maria </a:t>
            </a:r>
            <a:r>
              <a:rPr lang="pt-BR" sz="2000" dirty="0" err="1">
                <a:solidFill>
                  <a:schemeClr val="accent5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Tomitsuka</a:t>
            </a:r>
            <a:endParaRPr lang="pt-BR" sz="2000" dirty="0">
              <a:solidFill>
                <a:schemeClr val="accent5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pt-BR" sz="2000" dirty="0">
                <a:solidFill>
                  <a:schemeClr val="accent5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RM374983 - Nelson da Silva Paz</a:t>
            </a:r>
          </a:p>
          <a:p>
            <a:r>
              <a:rPr lang="pt-BR" sz="2000" dirty="0">
                <a:solidFill>
                  <a:schemeClr val="accent5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RM374494 - Nelson T Yamamoto</a:t>
            </a:r>
          </a:p>
        </p:txBody>
      </p:sp>
    </p:spTree>
    <p:extLst>
      <p:ext uri="{BB962C8B-B14F-4D97-AF65-F5344CB8AC3E}">
        <p14:creationId xmlns:p14="http://schemas.microsoft.com/office/powerpoint/2010/main" val="26477830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title"/>
          </p:nvPr>
        </p:nvSpPr>
        <p:spPr>
          <a:xfrm>
            <a:off x="521207" y="448056"/>
            <a:ext cx="9347723" cy="640080"/>
          </a:xfrm>
        </p:spPr>
        <p:txBody>
          <a:bodyPr rtlCol="0">
            <a:noAutofit/>
          </a:bodyPr>
          <a:lstStyle/>
          <a:p>
            <a:r>
              <a:rPr lang="pt-BR" sz="20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Databricks</a:t>
            </a:r>
            <a:r>
              <a:rPr lang="pt-BR" sz="20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pt-BR" sz="20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Workspace</a:t>
            </a:r>
            <a:r>
              <a:rPr lang="pt-BR" sz="2000" dirty="0">
                <a:latin typeface="Segoe UI Light" panose="020B0502040204020203" pitchFamily="34" charset="0"/>
                <a:cs typeface="Segoe UI Light" panose="020B0502040204020203" pitchFamily="34" charset="0"/>
              </a:rPr>
              <a:t> conectado ao GitHub e partilhado com a equipe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19F21FB-4168-BA23-0FB2-F8899CB2CB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989" y="1380453"/>
            <a:ext cx="8856372" cy="4981709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6928B87F-E984-FC40-FF1B-D72550CBF4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9252" y="1689617"/>
            <a:ext cx="1428183" cy="803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585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title"/>
          </p:nvPr>
        </p:nvSpPr>
        <p:spPr>
          <a:xfrm>
            <a:off x="521207" y="448056"/>
            <a:ext cx="10310399" cy="640080"/>
          </a:xfrm>
        </p:spPr>
        <p:txBody>
          <a:bodyPr rtlCol="0">
            <a:normAutofit/>
          </a:bodyPr>
          <a:lstStyle/>
          <a:p>
            <a:r>
              <a:rPr lang="pt-BR" sz="2000" dirty="0">
                <a:latin typeface="Segoe UI Light" panose="020B0502040204020203" pitchFamily="34" charset="0"/>
                <a:cs typeface="Segoe UI Light" panose="020B0502040204020203" pitchFamily="34" charset="0"/>
              </a:rPr>
              <a:t>Infraestrutura no Azure foi construída com o </a:t>
            </a:r>
            <a:r>
              <a:rPr lang="pt-BR" sz="20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Biceps</a:t>
            </a:r>
            <a:r>
              <a:rPr lang="pt-BR" sz="2000" dirty="0">
                <a:latin typeface="Segoe UI Light" panose="020B0502040204020203" pitchFamily="34" charset="0"/>
                <a:cs typeface="Segoe UI Light" panose="020B0502040204020203" pitchFamily="34" charset="0"/>
              </a:rPr>
              <a:t> por código</a:t>
            </a:r>
          </a:p>
        </p:txBody>
      </p:sp>
      <p:sp>
        <p:nvSpPr>
          <p:cNvPr id="42" name="Espaço Reservado para Conteúdo 17"/>
          <p:cNvSpPr txBox="1">
            <a:spLocks/>
          </p:cNvSpPr>
          <p:nvPr/>
        </p:nvSpPr>
        <p:spPr>
          <a:xfrm>
            <a:off x="521207" y="1694329"/>
            <a:ext cx="11070157" cy="48776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lnSpc>
                <a:spcPts val="2000"/>
              </a:lnSpc>
              <a:spcAft>
                <a:spcPts val="2000"/>
              </a:spcAft>
              <a:buNone/>
            </a:pPr>
            <a:endParaRPr lang="pt-BR" sz="1800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22D58D2-0251-BBBA-D2F1-9A60CF3949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636" y="1457212"/>
            <a:ext cx="8804856" cy="4952732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7AE9BD15-D345-D43A-1E26-7F31D2DCBB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6835" y="1929653"/>
            <a:ext cx="664369" cy="625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699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F109D-2C87-1FBC-7F48-41814FE7E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>
            <a:extLst>
              <a:ext uri="{FF2B5EF4-FFF2-40B4-BE49-F238E27FC236}">
                <a16:creationId xmlns:a16="http://schemas.microsoft.com/office/drawing/2014/main" id="{E19C0A3F-97ED-B923-7EDF-045C5A5F3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10310399" cy="640080"/>
          </a:xfr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pt-BR" sz="2000" dirty="0">
                <a:latin typeface="Segoe UI Light" panose="020B0502040204020203" pitchFamily="34" charset="0"/>
                <a:cs typeface="Segoe UI Light" panose="020B0502040204020203" pitchFamily="34" charset="0"/>
              </a:rPr>
              <a:t>Infraestrutura no Azure (recursos disponíveis)</a:t>
            </a:r>
          </a:p>
        </p:txBody>
      </p:sp>
      <p:sp>
        <p:nvSpPr>
          <p:cNvPr id="42" name="Espaço Reservado para Conteúdo 17">
            <a:extLst>
              <a:ext uri="{FF2B5EF4-FFF2-40B4-BE49-F238E27FC236}">
                <a16:creationId xmlns:a16="http://schemas.microsoft.com/office/drawing/2014/main" id="{727C52A6-90C6-9FD4-3F37-08D094A5CC1C}"/>
              </a:ext>
            </a:extLst>
          </p:cNvPr>
          <p:cNvSpPr txBox="1">
            <a:spLocks/>
          </p:cNvSpPr>
          <p:nvPr/>
        </p:nvSpPr>
        <p:spPr>
          <a:xfrm>
            <a:off x="521207" y="1694329"/>
            <a:ext cx="11070157" cy="48776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lnSpc>
                <a:spcPts val="2000"/>
              </a:lnSpc>
              <a:spcAft>
                <a:spcPts val="2000"/>
              </a:spcAft>
              <a:buNone/>
            </a:pPr>
            <a:endParaRPr lang="pt-BR" sz="1800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43ADEFCA-47E8-EE24-CB30-70BC1D6193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636" y="1395345"/>
            <a:ext cx="9287814" cy="5224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324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521207" y="448056"/>
            <a:ext cx="9633785" cy="640080"/>
          </a:xfr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pt-BR" sz="2000" dirty="0">
                <a:latin typeface="Segoe UI Light" panose="020B0502040204020203" pitchFamily="34" charset="0"/>
                <a:cs typeface="Segoe UI Light" panose="020B0502040204020203" pitchFamily="34" charset="0"/>
              </a:rPr>
              <a:t>Utilização do IAM (Controle de Acessos) para os recursos compartilhados</a:t>
            </a:r>
          </a:p>
        </p:txBody>
      </p:sp>
      <p:cxnSp>
        <p:nvCxnSpPr>
          <p:cNvPr id="20" name="Conector Reto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11458492" y="1556251"/>
            <a:ext cx="0" cy="4892634"/>
          </a:xfrm>
          <a:prstGeom prst="line">
            <a:avLst/>
          </a:prstGeom>
          <a:ln w="952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m 5">
            <a:extLst>
              <a:ext uri="{FF2B5EF4-FFF2-40B4-BE49-F238E27FC236}">
                <a16:creationId xmlns:a16="http://schemas.microsoft.com/office/drawing/2014/main" id="{EAD2BC3B-02CE-1F6F-35FE-41146851F2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428" y="1323578"/>
            <a:ext cx="9268495" cy="5213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5749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560C5-698D-8F65-9B22-33721129D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D60DC300-5DC8-3175-4422-5894B1A6D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 anchorCtr="0">
            <a:normAutofit/>
          </a:bodyPr>
          <a:lstStyle/>
          <a:p>
            <a:r>
              <a:rPr lang="pt-BR" sz="2000" dirty="0">
                <a:latin typeface="Segoe UI Light" panose="020B0502040204020203" pitchFamily="34" charset="0"/>
                <a:cs typeface="Segoe UI Light" panose="020B0502040204020203" pitchFamily="34" charset="0"/>
              </a:rPr>
              <a:t>Repositório da camada Bronze (histórico)</a:t>
            </a:r>
          </a:p>
        </p:txBody>
      </p:sp>
      <p:sp>
        <p:nvSpPr>
          <p:cNvPr id="30" name="Espaço Reservado para Conteúdo 17">
            <a:extLst>
              <a:ext uri="{FF2B5EF4-FFF2-40B4-BE49-F238E27FC236}">
                <a16:creationId xmlns:a16="http://schemas.microsoft.com/office/drawing/2014/main" id="{F3358014-86E4-2B62-132E-7EA839FBADFE}"/>
              </a:ext>
            </a:extLst>
          </p:cNvPr>
          <p:cNvSpPr txBox="1">
            <a:spLocks/>
          </p:cNvSpPr>
          <p:nvPr/>
        </p:nvSpPr>
        <p:spPr>
          <a:xfrm>
            <a:off x="541609" y="1455491"/>
            <a:ext cx="4815599" cy="48926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600"/>
              </a:spcAft>
              <a:buNone/>
            </a:pPr>
            <a:endParaRPr lang="pt-BR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BA39C1CE-F198-C9D7-1E0F-04935E4F8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11458492" y="1556251"/>
            <a:ext cx="0" cy="4892634"/>
          </a:xfrm>
          <a:prstGeom prst="line">
            <a:avLst/>
          </a:prstGeom>
          <a:ln w="952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m 3">
            <a:extLst>
              <a:ext uri="{FF2B5EF4-FFF2-40B4-BE49-F238E27FC236}">
                <a16:creationId xmlns:a16="http://schemas.microsoft.com/office/drawing/2014/main" id="{2E360EA8-2AD3-7E3F-1E51-014E0BC6A4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822" y="1423390"/>
            <a:ext cx="8755083" cy="4924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0773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0F551-8B42-5A6A-FDE1-CA434DB9D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6043F7AC-9BCF-C7E7-B474-1435770BA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 anchorCtr="0">
            <a:normAutofit/>
          </a:bodyPr>
          <a:lstStyle/>
          <a:p>
            <a:r>
              <a:rPr lang="pt-BR" sz="2000" dirty="0">
                <a:latin typeface="Segoe UI Light" panose="020B0502040204020203" pitchFamily="34" charset="0"/>
                <a:cs typeface="Segoe UI Light" panose="020B0502040204020203" pitchFamily="34" charset="0"/>
              </a:rPr>
              <a:t>Repositórios das camadas Silver e Gold</a:t>
            </a:r>
          </a:p>
        </p:txBody>
      </p:sp>
      <p:sp>
        <p:nvSpPr>
          <p:cNvPr id="30" name="Espaço Reservado para Conteúdo 17">
            <a:extLst>
              <a:ext uri="{FF2B5EF4-FFF2-40B4-BE49-F238E27FC236}">
                <a16:creationId xmlns:a16="http://schemas.microsoft.com/office/drawing/2014/main" id="{39E801FF-1B4C-23D5-1250-852EA2D82B4A}"/>
              </a:ext>
            </a:extLst>
          </p:cNvPr>
          <p:cNvSpPr txBox="1">
            <a:spLocks/>
          </p:cNvSpPr>
          <p:nvPr/>
        </p:nvSpPr>
        <p:spPr>
          <a:xfrm>
            <a:off x="541609" y="1455491"/>
            <a:ext cx="4815599" cy="48926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600"/>
              </a:spcAft>
              <a:buNone/>
            </a:pPr>
            <a:endParaRPr lang="pt-BR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1F054258-1AF4-AB7D-92CC-9C1277D1F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11458492" y="1556251"/>
            <a:ext cx="0" cy="4892634"/>
          </a:xfrm>
          <a:prstGeom prst="line">
            <a:avLst/>
          </a:prstGeom>
          <a:ln w="952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m 4">
            <a:extLst>
              <a:ext uri="{FF2B5EF4-FFF2-40B4-BE49-F238E27FC236}">
                <a16:creationId xmlns:a16="http://schemas.microsoft.com/office/drawing/2014/main" id="{F8F4AE45-A821-276A-9F3A-99B9815FC0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504" y="1376832"/>
            <a:ext cx="8899301" cy="5005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070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9FFEE-CC83-A391-5C75-4319BB942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6610E4EF-EDDB-445C-D1D8-BF4C6AEC8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 anchorCtr="0">
            <a:normAutofit/>
          </a:bodyPr>
          <a:lstStyle/>
          <a:p>
            <a:r>
              <a:rPr lang="pt-BR" sz="2000" dirty="0">
                <a:latin typeface="Segoe UI Light" panose="020B0502040204020203" pitchFamily="34" charset="0"/>
                <a:cs typeface="Segoe UI Light" panose="020B0502040204020203" pitchFamily="34" charset="0"/>
              </a:rPr>
              <a:t>Monitoramento</a:t>
            </a:r>
          </a:p>
        </p:txBody>
      </p:sp>
      <p:sp>
        <p:nvSpPr>
          <p:cNvPr id="30" name="Espaço Reservado para Conteúdo 17">
            <a:extLst>
              <a:ext uri="{FF2B5EF4-FFF2-40B4-BE49-F238E27FC236}">
                <a16:creationId xmlns:a16="http://schemas.microsoft.com/office/drawing/2014/main" id="{EB331AD0-7482-0AB7-F72D-CE842DED271E}"/>
              </a:ext>
            </a:extLst>
          </p:cNvPr>
          <p:cNvSpPr txBox="1">
            <a:spLocks/>
          </p:cNvSpPr>
          <p:nvPr/>
        </p:nvSpPr>
        <p:spPr>
          <a:xfrm>
            <a:off x="541609" y="1455491"/>
            <a:ext cx="4815599" cy="48926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600"/>
              </a:spcAft>
              <a:buNone/>
            </a:pPr>
            <a:endParaRPr lang="pt-BR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6B2E7BDE-6521-36DD-341F-CCB7985C35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11458492" y="1556251"/>
            <a:ext cx="0" cy="4892634"/>
          </a:xfrm>
          <a:prstGeom prst="line">
            <a:avLst/>
          </a:prstGeom>
          <a:ln w="952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m 4">
            <a:extLst>
              <a:ext uri="{FF2B5EF4-FFF2-40B4-BE49-F238E27FC236}">
                <a16:creationId xmlns:a16="http://schemas.microsoft.com/office/drawing/2014/main" id="{84D1EDC8-83C6-C74E-E421-95A4238933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866" y="1455490"/>
            <a:ext cx="8970132" cy="5045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1112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F7A78-44B7-2FF9-C6E4-A24F5EB7D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7B54DAD2-DBB1-C7E7-AC4D-6FA40D94F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9144387" cy="640080"/>
          </a:xfr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pt-BR" sz="2000" dirty="0">
                <a:latin typeface="Segoe UI Light" panose="020B0502040204020203" pitchFamily="34" charset="0"/>
                <a:cs typeface="Segoe UI Light" panose="020B0502040204020203" pitchFamily="34" charset="0"/>
              </a:rPr>
              <a:t>Agendamento da ingestão batch na camada Bronze</a:t>
            </a:r>
          </a:p>
        </p:txBody>
      </p:sp>
      <p:sp>
        <p:nvSpPr>
          <p:cNvPr id="30" name="Espaço Reservado para Conteúdo 17">
            <a:extLst>
              <a:ext uri="{FF2B5EF4-FFF2-40B4-BE49-F238E27FC236}">
                <a16:creationId xmlns:a16="http://schemas.microsoft.com/office/drawing/2014/main" id="{BD269E23-2CFE-0DCC-1A1B-72D7D2524B97}"/>
              </a:ext>
            </a:extLst>
          </p:cNvPr>
          <p:cNvSpPr txBox="1">
            <a:spLocks/>
          </p:cNvSpPr>
          <p:nvPr/>
        </p:nvSpPr>
        <p:spPr>
          <a:xfrm>
            <a:off x="541609" y="1455491"/>
            <a:ext cx="4815599" cy="48926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600"/>
              </a:spcAft>
              <a:buNone/>
            </a:pPr>
            <a:endParaRPr lang="pt-BR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DE8539E0-8249-1F8C-BE9C-8D0CE0F959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11458492" y="1556251"/>
            <a:ext cx="0" cy="4892634"/>
          </a:xfrm>
          <a:prstGeom prst="line">
            <a:avLst/>
          </a:prstGeom>
          <a:ln w="952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m 6">
            <a:extLst>
              <a:ext uri="{FF2B5EF4-FFF2-40B4-BE49-F238E27FC236}">
                <a16:creationId xmlns:a16="http://schemas.microsoft.com/office/drawing/2014/main" id="{A9A53096-07D5-DF8F-E749-95184BE5EA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974" y="1305249"/>
            <a:ext cx="9590468" cy="5394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6042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E2A0A-F2A0-9E76-6471-75898D6F8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561BB5DD-DA80-7697-F0E1-F5D0FA411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320139" cy="640080"/>
          </a:xfr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pt-BR" sz="2000" dirty="0">
                <a:latin typeface="Segoe UI Light" panose="020B0502040204020203" pitchFamily="34" charset="0"/>
                <a:cs typeface="Segoe UI Light" panose="020B0502040204020203" pitchFamily="34" charset="0"/>
              </a:rPr>
              <a:t>Agendamento da ingestão streaming na camada Bronze</a:t>
            </a:r>
          </a:p>
        </p:txBody>
      </p:sp>
      <p:sp>
        <p:nvSpPr>
          <p:cNvPr id="30" name="Espaço Reservado para Conteúdo 17">
            <a:extLst>
              <a:ext uri="{FF2B5EF4-FFF2-40B4-BE49-F238E27FC236}">
                <a16:creationId xmlns:a16="http://schemas.microsoft.com/office/drawing/2014/main" id="{A38DF368-DA9F-D1D0-F342-34F934AA0B46}"/>
              </a:ext>
            </a:extLst>
          </p:cNvPr>
          <p:cNvSpPr txBox="1">
            <a:spLocks/>
          </p:cNvSpPr>
          <p:nvPr/>
        </p:nvSpPr>
        <p:spPr>
          <a:xfrm>
            <a:off x="541609" y="1455491"/>
            <a:ext cx="4815599" cy="48926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600"/>
              </a:spcAft>
              <a:buNone/>
            </a:pPr>
            <a:endParaRPr lang="pt-BR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AFA370CD-58C8-C7BA-27D3-19C75A6903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11458492" y="1556251"/>
            <a:ext cx="0" cy="4892634"/>
          </a:xfrm>
          <a:prstGeom prst="line">
            <a:avLst/>
          </a:prstGeom>
          <a:ln w="952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m 4">
            <a:extLst>
              <a:ext uri="{FF2B5EF4-FFF2-40B4-BE49-F238E27FC236}">
                <a16:creationId xmlns:a16="http://schemas.microsoft.com/office/drawing/2014/main" id="{6F3BD271-D660-BDA9-FA7A-7792AB80D1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306" y="1294214"/>
            <a:ext cx="9094631" cy="5115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2233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BD9B3-65E2-B38D-2395-BD78158F0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F1DF5FE8-855F-71A3-C2D7-0359688FB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10937284" cy="640080"/>
          </a:xfr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pt-BR" sz="2000" dirty="0">
                <a:latin typeface="Segoe UI Light" panose="020B0502040204020203" pitchFamily="34" charset="0"/>
                <a:cs typeface="Segoe UI Light" panose="020B0502040204020203" pitchFamily="34" charset="0"/>
              </a:rPr>
              <a:t>Notificações (envia notificação da rotina automática para sucesso ou falha)</a:t>
            </a:r>
          </a:p>
        </p:txBody>
      </p:sp>
      <p:sp>
        <p:nvSpPr>
          <p:cNvPr id="30" name="Espaço Reservado para Conteúdo 17">
            <a:extLst>
              <a:ext uri="{FF2B5EF4-FFF2-40B4-BE49-F238E27FC236}">
                <a16:creationId xmlns:a16="http://schemas.microsoft.com/office/drawing/2014/main" id="{4D9693D1-7223-F40A-25E5-F460026368AA}"/>
              </a:ext>
            </a:extLst>
          </p:cNvPr>
          <p:cNvSpPr txBox="1">
            <a:spLocks/>
          </p:cNvSpPr>
          <p:nvPr/>
        </p:nvSpPr>
        <p:spPr>
          <a:xfrm>
            <a:off x="541609" y="1455491"/>
            <a:ext cx="4815599" cy="48926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600"/>
              </a:spcAft>
              <a:buNone/>
            </a:pPr>
            <a:endParaRPr lang="pt-BR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D4C7E6E0-0BD1-6C27-29E7-B3F3D97170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11458492" y="1556251"/>
            <a:ext cx="0" cy="4892634"/>
          </a:xfrm>
          <a:prstGeom prst="line">
            <a:avLst/>
          </a:prstGeom>
          <a:ln w="952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m 4">
            <a:extLst>
              <a:ext uri="{FF2B5EF4-FFF2-40B4-BE49-F238E27FC236}">
                <a16:creationId xmlns:a16="http://schemas.microsoft.com/office/drawing/2014/main" id="{C426C532-8F46-49F2-EA5C-FFCB560FC8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512" y="1317926"/>
            <a:ext cx="9545392" cy="5369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6168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AC0FDD-286B-B10A-4594-022C05783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359C5615-60F9-0418-FE82-6158C7A6E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 anchorCtr="0">
            <a:normAutofit/>
          </a:bodyPr>
          <a:lstStyle/>
          <a:p>
            <a:r>
              <a:rPr lang="pt-BR" sz="20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PowerBI</a:t>
            </a:r>
            <a:r>
              <a:rPr lang="pt-BR" sz="2000" dirty="0">
                <a:latin typeface="Segoe UI Light" panose="020B0502040204020203" pitchFamily="34" charset="0"/>
                <a:cs typeface="Segoe UI Light" panose="020B0502040204020203" pitchFamily="34" charset="0"/>
              </a:rPr>
              <a:t> (conexão e produção de consultas)</a:t>
            </a:r>
          </a:p>
        </p:txBody>
      </p:sp>
      <p:sp>
        <p:nvSpPr>
          <p:cNvPr id="30" name="Espaço Reservado para Conteúdo 17">
            <a:extLst>
              <a:ext uri="{FF2B5EF4-FFF2-40B4-BE49-F238E27FC236}">
                <a16:creationId xmlns:a16="http://schemas.microsoft.com/office/drawing/2014/main" id="{573792A3-A06D-9857-3CDF-F8C1C68A1233}"/>
              </a:ext>
            </a:extLst>
          </p:cNvPr>
          <p:cNvSpPr txBox="1">
            <a:spLocks/>
          </p:cNvSpPr>
          <p:nvPr/>
        </p:nvSpPr>
        <p:spPr>
          <a:xfrm>
            <a:off x="541609" y="1455491"/>
            <a:ext cx="4815599" cy="48926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600"/>
              </a:spcAft>
              <a:buNone/>
            </a:pPr>
            <a:endParaRPr lang="pt-BR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838C261E-ED1D-2D93-DEB5-EB88BE7C4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11458492" y="1556251"/>
            <a:ext cx="0" cy="4892634"/>
          </a:xfrm>
          <a:prstGeom prst="line">
            <a:avLst/>
          </a:prstGeom>
          <a:ln w="952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m 5">
            <a:extLst>
              <a:ext uri="{FF2B5EF4-FFF2-40B4-BE49-F238E27FC236}">
                <a16:creationId xmlns:a16="http://schemas.microsoft.com/office/drawing/2014/main" id="{CA7E6E05-6CFB-7AD9-08DA-AB23877D86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7" y="1375750"/>
            <a:ext cx="5212858" cy="2932233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3CFC7D23-84D1-836E-6602-3B44DB7A57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0882" y="3334470"/>
            <a:ext cx="5357610" cy="3013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462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pt-BR" dirty="0">
                <a:latin typeface="Segoe UI Light" panose="020B0502040204020203" pitchFamily="34" charset="0"/>
                <a:cs typeface="Segoe UI Light" panose="020B0502040204020203" pitchFamily="34" charset="0"/>
              </a:rPr>
              <a:t>Nossos agradecimentos!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half" idx="4294967295"/>
          </p:nvPr>
        </p:nvSpPr>
        <p:spPr>
          <a:xfrm>
            <a:off x="541611" y="2614427"/>
            <a:ext cx="9442648" cy="3978275"/>
          </a:xfrm>
        </p:spPr>
        <p:txBody>
          <a:bodyPr rtlCol="0">
            <a:normAutofit/>
          </a:bodyPr>
          <a:lstStyle/>
          <a:p>
            <a:pPr>
              <a:lnSpc>
                <a:spcPts val="3600"/>
              </a:lnSpc>
              <a:spcAft>
                <a:spcPts val="0"/>
              </a:spcAft>
            </a:pPr>
            <a:r>
              <a:rPr lang="pt-BR" sz="2000">
                <a:latin typeface="Segoe UI Light" panose="020B0502040204020203" pitchFamily="34" charset="0"/>
                <a:cs typeface="Segoe UI Light" panose="020B0502040204020203" pitchFamily="34" charset="0"/>
              </a:rPr>
              <a:t>Repositório </a:t>
            </a:r>
            <a:r>
              <a:rPr lang="pt-BR" sz="2000" dirty="0">
                <a:latin typeface="Segoe UI Light" panose="020B0502040204020203" pitchFamily="34" charset="0"/>
                <a:cs typeface="Segoe UI Light" panose="020B0502040204020203" pitchFamily="34" charset="0"/>
              </a:rPr>
              <a:t>do GitHub do nosso projeto:  </a:t>
            </a:r>
            <a:r>
              <a:rPr lang="pt-BR" sz="2000" dirty="0">
                <a:latin typeface="Segoe UI Light" panose="020B0502040204020203" pitchFamily="34" charset="0"/>
                <a:cs typeface="Segoe UI Light" panose="020B0502040204020203" pitchFamily="34" charset="0"/>
                <a:hlinkClick r:id="rId3"/>
              </a:rPr>
              <a:t>https://github.com/FIAPCientistasDados/postech-aisc-fase-2-pipeline-azure-g23</a:t>
            </a:r>
            <a:endParaRPr lang="pt-BR" sz="20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269089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theme/theme1.xml><?xml version="1.0" encoding="utf-8"?>
<a:theme xmlns:a="http://schemas.openxmlformats.org/drawingml/2006/main" name="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05_TF10001108_Win32" id="{08D89365-2E4C-432D-9349-8DF9B80AEEA1}" vid="{010FF314-90DF-4A21-BD0D-ADCBA34234AC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{E4828780-5AFB-4299-85A2-F063623F022C}TF2989475c-5427-4edb-9ec1-00f4ce72165b601f1099_win32-a7b60946d762</Template>
  <TotalTime>1227</TotalTime>
  <Words>689</Words>
  <Application>Microsoft Office PowerPoint</Application>
  <PresentationFormat>Widescreen</PresentationFormat>
  <Paragraphs>85</Paragraphs>
  <Slides>20</Slides>
  <Notes>20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6" baseType="lpstr">
      <vt:lpstr>Arial</vt:lpstr>
      <vt:lpstr>Calibri</vt:lpstr>
      <vt:lpstr>Segoe UI</vt:lpstr>
      <vt:lpstr>Segoe UI Light</vt:lpstr>
      <vt:lpstr>Verdana</vt:lpstr>
      <vt:lpstr>Personalizado</vt:lpstr>
      <vt:lpstr>Tech Challenge – Fase 2</vt:lpstr>
      <vt:lpstr>Contexto e Problema de Negócio </vt:lpstr>
      <vt:lpstr>Problema de Negócio: Informações dispersas em múltiplas fontes de dados, sem uma visão integrada para análise e tomada de decisão</vt:lpstr>
      <vt:lpstr>Objetivo: Consolidar múltiplas fontes de dados em uma visão analítica unificada</vt:lpstr>
      <vt:lpstr>Arquitetura do projeto</vt:lpstr>
      <vt:lpstr>FinOps - Operação e Custo</vt:lpstr>
      <vt:lpstr>Monitoramento da Pipeline</vt:lpstr>
      <vt:lpstr>Tech Challenge – Fase 2 – Resumo técnico</vt:lpstr>
      <vt:lpstr>Databricks Workspace conectado ao GitHub e partilhado com a equipe</vt:lpstr>
      <vt:lpstr>Infraestrutura no Azure foi construída com o Biceps por código</vt:lpstr>
      <vt:lpstr>Infraestrutura no Azure (recursos disponíveis)</vt:lpstr>
      <vt:lpstr>Utilização do IAM (Controle de Acessos) para os recursos compartilhados</vt:lpstr>
      <vt:lpstr>Repositório da camada Bronze (histórico)</vt:lpstr>
      <vt:lpstr>Repositórios das camadas Silver e Gold</vt:lpstr>
      <vt:lpstr>Monitoramento</vt:lpstr>
      <vt:lpstr>Agendamento da ingestão batch na camada Bronze</vt:lpstr>
      <vt:lpstr>Agendamento da ingestão streaming na camada Bronze</vt:lpstr>
      <vt:lpstr>Notificações (envia notificação da rotina automática para sucesso ou falha)</vt:lpstr>
      <vt:lpstr>PowerBI (conexão e produção de consultas)</vt:lpstr>
      <vt:lpstr>Nossos agradecimentos!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Fito Trabalho</dc:creator>
  <cp:keywords/>
  <cp:lastModifiedBy>Fito Trabalho</cp:lastModifiedBy>
  <cp:revision>7</cp:revision>
  <dcterms:created xsi:type="dcterms:W3CDTF">2026-08-31T00:47:43Z</dcterms:created>
  <dcterms:modified xsi:type="dcterms:W3CDTF">2026-09-01T00:54:12Z</dcterms:modified>
  <cp:version/>
</cp:coreProperties>
</file>